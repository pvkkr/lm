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GUIDELINES:</a:t>
            </a:r>
          </a:p>
          <a:p>
            <a:r>
              <a:t>- Welcome all participant teams (2nd-year BTech ECE/EEE/CSE students).</a:t>
            </a:r>
          </a:p>
          <a:p>
            <a:r>
              <a:t>- Verify registration badges against the portal list.</a:t>
            </a:r>
          </a:p>
          <a:p>
            <a:r>
              <a:t>- Ensure mobile phones, smartwatches, and programmable calculators are deposited at the proctor desk.</a:t>
            </a:r>
          </a:p>
          <a:p>
            <a:r>
              <a:t>- Event Duration: 180 Minutes (9:30 AM to 12:30 PM). Total Marks: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GUIDELINES:</a:t>
            </a:r>
          </a:p>
          <a:p>
            <a:r>
              <a:t>- Read out loud the negative marking rule (-0.5 for MCQs).</a:t>
            </a:r>
          </a:p>
          <a:p>
            <a:r>
              <a:t>- Clarify that non-programmable calculators are allowed for propagation delay calculations.</a:t>
            </a:r>
          </a:p>
          <a:p>
            <a:r>
              <a:t>- Distribute standardized 12-page answer booklets at 9:25 AM. Timing starts promptly at 9:30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NOTES:</a:t>
            </a:r>
          </a:p>
          <a:p>
            <a:r>
              <a:t>- Announce Section A start. Advise students to spend ~3 minutes per MCQ.</a:t>
            </a:r>
          </a:p>
          <a:p>
            <a:r>
              <a:t>- Emphasize marking the final option clearly on the optical mark / answer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Fundamental Axioms of Boolean Algebra.</a:t>
            </a:r>
          </a:p>
          <a:p>
            <a:r>
              <a:t>- Ensure students do NOT complement variables when forming the Dual (dual ≠ complement).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K-Map Optimization &amp; Implicant Classification.</a:t>
            </a:r>
          </a:p>
          <a:p>
            <a:r>
              <a:t>- Remind students to plot all 8 minterms on a 4x4 grid and identify minterms covered by exactly one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Universal Gate Logic Realization.</a:t>
            </a:r>
          </a:p>
          <a:p>
            <a:r>
              <a:t>- Standard textbook question. Direct students to consider the shared intermediate product term (A*B)'.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Combinational Logic via Multiplexers.</a:t>
            </a:r>
          </a:p>
          <a:p>
            <a:r>
              <a:t>- Students should map S2=A, S1=B, S0=C and evaluate I_k for D=0 and D=1.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Gate Delays &amp; Timing in Combinational Adders.</a:t>
            </a:r>
          </a:p>
          <a:p>
            <a:r>
              <a:t>- Formula: t_ripple = t_XOR + (N-1)*t_carry_stage + t_sum_stage.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Don't Care Optimization in K-Maps.</a:t>
            </a:r>
          </a:p>
          <a:p>
            <a:r>
              <a:t>- Check if students include optional don't cares d(0,2) to form an octet or quad.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Decoder-based Logic Design.</a:t>
            </a:r>
          </a:p>
          <a:p>
            <a:r>
              <a:t>- Active-LOW outputs mean selected minterms produce 0. Applying DeMorgan: (Y1' * Y3' * Y6' * Y7')' = Y1 + Y3 + Y6 + Y7.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High-Dimensional K-Map Geometry.</a:t>
            </a:r>
          </a:p>
          <a:p>
            <a:r>
              <a:t>- Cell 12 in M00 is UVWX'Y'Z = 001100. Cell in M11 with same WXYZ is 111100 = 60. Hamming distance must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Magnitude Comparator Cascading Architecture.</a:t>
            </a:r>
          </a:p>
          <a:p>
            <a:r>
              <a:t>- IC 7485 requires A=B_in = 1 at the least significant stage for proper tie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Topic: Advanced Boolean Symmetry &amp; Self-Duality.</a:t>
            </a:r>
          </a:p>
          <a:p>
            <a:r>
              <a:t>- Formula for self-dual functions of n variables: 2^(2^(n-1)). For n=3, 2^(2^2) = 2^4 =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Announce Section B start. Remind students to write step-by-step logic derivations.</a:t>
            </a:r>
          </a:p>
          <a:p>
            <a:r>
              <a:t>- Emphasize that final logic circuits must use standard IEEE gate symbols.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Check step 1: A'B'(C'+C) + A'BC' + AB'C' = A'B' + A'BC' + AB'C'.</a:t>
            </a:r>
          </a:p>
          <a:p>
            <a:r>
              <a:t>- Check step 2: A'B' + A'BC' = A'(B' + BC') = A'(B' + C').</a:t>
            </a:r>
          </a:p>
          <a:p>
            <a:r>
              <a:t>- Final Minimal SOP: F = A'B' + A'C' + B'C' or F = (AB + AC + BC)'.</a:t>
            </a:r>
          </a:p>
          <a:p>
            <a:r>
              <a:t>- NAND diagram must show inverted inputs generated via NAND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Grid must be labeled WX (rows) and YZ (cols).</a:t>
            </a:r>
          </a:p>
          <a:p>
            <a:r>
              <a:t>- Don't care d(3) completes Octet m(0,1,2,3,8,9,10,11) -&gt; W' + W? Actually W=0/1 gives W'Z'... Let's evaluate carefully in solution deck.</a:t>
            </a:r>
          </a:p>
          <a:p>
            <a:r>
              <a:t>- Essential PIs must be clearly indicated with distinct loop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Minterms are 0, 4, 16, 20, 32, 36, 48, 52.</a:t>
            </a:r>
          </a:p>
          <a:p>
            <a:r>
              <a:t>- Binary: 000000, 000100, 010000, 010100, 100000, 100100, 110000, 110100.</a:t>
            </a:r>
          </a:p>
          <a:p>
            <a:r>
              <a:t>- Note that in ALL sub-maps, C,D,E,F = 0000 and 0100! Thus A and B are independent! Excellent reduction!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AB=00: m(0,1,3) -&gt; C'D' + C'D + CD = C' + CD = C' + D.</a:t>
            </a:r>
          </a:p>
          <a:p>
            <a:r>
              <a:t>- AB=01: m(4) -&gt; C'D'.</a:t>
            </a:r>
          </a:p>
          <a:p>
            <a:r>
              <a:t>- AB=10: m(8,9) -&gt; C'D' + C'D = C'.</a:t>
            </a:r>
          </a:p>
          <a:p>
            <a:r>
              <a:t>- AB=11: m(15) -&gt; 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Timing diagram must explicitly highlight the delta-t window where A=0 and A'=0 due to gate propagation delay.</a:t>
            </a:r>
          </a:p>
          <a:p>
            <a:r>
              <a:t>- Consensus term between AB and A'C is BC.</a:t>
            </a:r>
          </a:p>
          <a:p>
            <a:r>
              <a:t>- Hazard-free function: F = AB + A'C + 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Diff = A ⊕ B ⊕ B_in.</a:t>
            </a:r>
          </a:p>
          <a:p>
            <a:r>
              <a:t>- B_out = A'B + A'B_in + B B_in = (A + B')' + (A + B_in')' + (B' + B_in')' in NOR logic.</a:t>
            </a:r>
          </a:p>
          <a:p>
            <a:r>
              <a:t>- Verify all NOR gate transformations.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Output Y1 = D3 + D2.</a:t>
            </a:r>
          </a:p>
          <a:p>
            <a:r>
              <a:t>- Output Y0 = D3 + D2' D1.</a:t>
            </a:r>
          </a:p>
          <a:p>
            <a:r>
              <a:t>- Valid V = D3 + D2 + D1 + 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Tree structure has depth log2(4) = 2 stages for generator + 1 stage for checker = 3 stages total.</a:t>
            </a:r>
          </a:p>
          <a:p>
            <a:r>
              <a:t>- Delay = 3 * 3.5 ns = 10.5 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Announce Section C start. Remind teams that these are 10-mark complex reasoning problems.</a:t>
            </a:r>
          </a:p>
          <a:p>
            <a:r>
              <a:t>- Allocate ~20 minutes per puzzle.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Fault table must evaluate F for Node 1 s-a-0, Node 2 s-a-0, Node 3 s-a-0.</a:t>
            </a:r>
          </a:p>
          <a:p>
            <a:r>
              <a:t>- Minimal test set requires 3 vectors: 110, 011, 101.</a:t>
            </a:r>
          </a:p>
          <a:p>
            <a:r>
              <a:t>- Complete diagnostic matrix evaluation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Excess-3 representation of D: D + 3. Excess-3 representation of 9-D: (9-D)+3 = 12-D = 15 - (D+3) = Bitwise NOT of (D+3)!</a:t>
            </a:r>
          </a:p>
          <a:p>
            <a:r>
              <a:t>- Proof is elegant and highlights fundamental digital design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GUIDELINES:</a:t>
            </a:r>
          </a:p>
          <a:p>
            <a:r>
              <a:t>- Conduct tie-breaker ONLY if teams tie for 1st, 2nd, or 3rd place.</a:t>
            </a:r>
          </a:p>
          <a:p>
            <a:r>
              <a:t>- Time limit: 2 minutes per question. First team to submit correct written answer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PROCTORING CUE:</a:t>
            </a:r>
          </a:p>
          <a:p>
            <a:r>
              <a:t>- Collect all answer scripts.</a:t>
            </a:r>
          </a:p>
          <a:p>
            <a:r>
              <a:t>- Count and verify booklet count against attendance sheet (Room R406A).</a:t>
            </a:r>
          </a:p>
          <a:p>
            <a:r>
              <a:t>- Move to evaluation phase using Solution Set 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026FF"/>
                </a:solidFill>
                <a:latin typeface="Verdana"/>
              </a:defRPr>
            </a:pPr>
            <a:r>
              <a:t>KL DEEMED TO BE UNIVERSITY  •  DEPARTMENT OF ECE</a:t>
            </a:r>
          </a:p>
          <a:p>
            <a:pPr algn="ctr">
              <a:defRPr sz="2200" b="1">
                <a:solidFill>
                  <a:srgbClr val="FFB700"/>
                </a:solidFill>
                <a:latin typeface="Verdana"/>
              </a:defRPr>
            </a:pPr>
            <a:r>
              <a:t>SAMYAK 2026</a:t>
            </a:r>
          </a:p>
          <a:p>
            <a:pPr algn="ctr">
              <a:defRPr sz="4400" b="1">
                <a:solidFill>
                  <a:srgbClr val="00F0FF"/>
                </a:solidFill>
                <a:latin typeface="Georgia"/>
              </a:defRPr>
            </a:pPr>
            <a:r>
              <a:t>LOGIC MATRIX</a:t>
            </a:r>
          </a:p>
          <a:p>
            <a:pPr algn="ctr">
              <a:defRPr sz="1600" b="1">
                <a:solidFill>
                  <a:srgbClr val="F8FAFC"/>
                </a:solidFill>
                <a:latin typeface="Verdana"/>
              </a:defRPr>
            </a:pPr>
            <a:r>
              <a:t>THINK  /  ANALYZE  /  SOLVE</a:t>
            </a:r>
          </a:p>
          <a:p>
            <a:br/>
            <a:pPr algn="ctr">
              <a:defRPr sz="1400">
                <a:solidFill>
                  <a:srgbClr val="94A3B8"/>
                </a:solidFill>
                <a:latin typeface="Verdana"/>
              </a:defRPr>
            </a:pPr>
            <a:r>
              <a:t>Official Competitive Question Paper — 2nd Year BTech Technical Fest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663440"/>
            <a:ext cx="9448495" cy="1097280"/>
          </a:xfrm>
          <a:prstGeom prst="roundRect">
            <a:avLst/>
          </a:prstGeom>
          <a:solidFill>
            <a:srgbClr val="19243D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DATE: 29-10-2026    |    TIME: 9:30 AM – 12:30 PM (3 Hours)    |    VENUE: R406A    |    TOTAL MARKS: 80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 of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KL ECE | SAMYAK 2026 | LOGIC MATRIX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Rules, Structure &amp; Marking Scheme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94960" cy="49377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  <a:latin typeface="Georgia"/>
              </a:defRPr>
            </a:pPr>
            <a:r>
              <a:t>[SECTIONS] EXAMINATION STRUCTURE</a:t>
            </a:r>
          </a:p>
          <a:p>
            <a:br/>
            <a:pPr>
              <a:defRPr sz="1300" b="1">
                <a:solidFill>
                  <a:srgbClr val="FFB700"/>
                </a:solidFill>
                <a:latin typeface="Verdana"/>
              </a:defRPr>
            </a:pPr>
            <a:r>
              <a:t>• Section A: MCQs (Q1 – Q10)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  10 Questions @ 2 Marks = 20 Marks</a:t>
            </a:r>
            <a:br/>
            <a:r>
              <a:t>• Time Cue: ~30 mins total</a:t>
            </a:r>
            <a:br/>
            <a:r>
              <a:t>• Marking: +2 for correct, -0.5 for wrong</a:t>
            </a:r>
          </a:p>
          <a:p>
            <a:br/>
            <a:pPr>
              <a:defRPr sz="1300" b="1">
                <a:solidFill>
                  <a:srgbClr val="FFB700"/>
                </a:solidFill>
                <a:latin typeface="Verdana"/>
              </a:defRPr>
            </a:pPr>
            <a:r>
              <a:t>• Section B: Design Problems (Q11 – Q18)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  8 Questions @ 5 Marks = 40 Marks</a:t>
            </a:r>
            <a:br/>
            <a:r>
              <a:t>• Time Cue: ~90 mins total</a:t>
            </a:r>
            <a:br/>
            <a:r>
              <a:t>• Stepwise evaluation for truth tables &amp; K-maps</a:t>
            </a:r>
          </a:p>
          <a:p>
            <a:br/>
            <a:pPr>
              <a:defRPr sz="1300" b="1">
                <a:solidFill>
                  <a:srgbClr val="FFB700"/>
                </a:solidFill>
                <a:latin typeface="Verdana"/>
              </a:defRPr>
            </a:pPr>
            <a:r>
              <a:t>• Section C: Logic Puzzles (Q19 – Q20)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  2 Questions @ 10 Marks = 20 Marks</a:t>
            </a:r>
            <a:br/>
            <a:r>
              <a:t>• Time Cue: ~40 mins total</a:t>
            </a:r>
            <a:br/>
            <a:r>
              <a:t>• High-level analytical &amp; fault diagnostic puzzles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9377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026FF"/>
                </a:solidFill>
                <a:latin typeface="Georgia"/>
              </a:defRPr>
            </a:pPr>
            <a:r>
              <a:t>[RULES] COMPETITION CONDUCT</a:t>
            </a:r>
          </a:p>
          <a:p>
            <a:br/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1. Allowed Materials: Non-programmable scientific calculators (FX-82/991 series), blue/black ballpoint pens, geometric drawing tools.</a:t>
            </a:r>
          </a:p>
          <a:p>
            <a:br/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2. Answer Sheet Integrity: All final boolean expressions must be simplified to minimal SOP/POS forms unless specified otherwise.</a:t>
            </a:r>
          </a:p>
          <a:p>
            <a:br/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3. K-Map Grouping Visuals: K-map cell values and loop groupings (quads, octets, pairs) MUST be explicitly drawn in answer scripts.</a:t>
            </a:r>
          </a:p>
          <a:p>
            <a:br/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4. Negative Marking: Applies strictly to Section A MCQs (-0.5 marks per incorrect response; 0 for unattempted).</a:t>
            </a:r>
          </a:p>
          <a:p>
            <a:br/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5. Tie-Breaker Round: Triggered automatically if top team scores are identical at 12:30 PM.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 of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KL ECE | SAMYAK 2026 | LOGIC MATRIX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Section A: Multiple Choice Questions (Q1 – Q10)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F0FF"/>
                </a:solidFill>
                <a:latin typeface="Georgia"/>
              </a:defRPr>
            </a:pPr>
            <a:r>
              <a:t>SECTION A: MULTIPLE CHOICE QUESTIONS</a:t>
            </a:r>
          </a:p>
          <a:p>
            <a:br/>
            <a:pPr algn="ctr">
              <a:defRPr sz="1400" b="1">
                <a:solidFill>
                  <a:srgbClr val="FFB700"/>
                </a:solidFill>
                <a:latin typeface="Verdana"/>
              </a:defRPr>
            </a:pPr>
            <a:r>
              <a:t>• Total Questions: 10  |  Marks per Question: 2 Marks  |  Total Section Marks: 20</a:t>
            </a:r>
          </a:p>
          <a:p>
            <a:br/>
            <a:pPr algn="ctr">
              <a:defRPr sz="1300">
                <a:solidFill>
                  <a:srgbClr val="F8FAFC"/>
                </a:solidFill>
                <a:latin typeface="Verdana"/>
              </a:defRPr>
            </a:pPr>
            <a:r>
              <a:t>• Negative Marking: -0.5 Marks for wrong answers. 0 Marks for unattempted questions.</a:t>
            </a:r>
          </a:p>
          <a:p>
            <a:br/>
            <a:pPr algn="ctr">
              <a:defRPr sz="1200">
                <a:solidFill>
                  <a:srgbClr val="94A3B8"/>
                </a:solidFill>
                <a:latin typeface="Verdana"/>
              </a:defRPr>
            </a:pPr>
            <a:r>
              <a:t>• Topics Covered: Boolean Duality, K-Map Implicants, Universal Gate Realizations, MUX Expressions, Timing &amp; Propagation Delay, Don't Care Optimization, Active-LOW Decoders, 6-Variable K-Map Properties, Cascade Magnitude Comparators, Self-Dual Functions.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3 of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1: Boolean Duality Principle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Q1. Determine the Dual expression of the Boolean function:</a:t>
            </a:r>
            <a:br/>
            <a:r>
              <a:t>F(A, B, C) = A + A'B*C + A(B + C')</a:t>
            </a:r>
            <a:br/>
            <a:r>
              <a:t>Recall: The dual of a Boolean expression is obtained by swapping AND (.) and OR (+) operators, and swapping 0 and 1, without changing literal complementation.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F_dual = A * (A' + B + C) * (A + B * C')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F_dual = A' * (A + B' + C') * (A' + B' * 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F_dual = A * (A' + B + C) * (A * B + C')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F_dual = A + (A' * B + C) + A(B' * C)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4 of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2: Essential Prime Implicants in 4-Variable K-Map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2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Q2. For the 4-variable Boolean function f(A,B,C,D) = Σ m(0, 2, 5, 7, 8, 10, 13, 15), how many Essential Prime Implicants (EPIs) exist in the minimized K-map representation?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1 EPI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2 EPIs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3 EPIs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4 EPIs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5 of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3: Universal Gate Minimization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3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Q3. What is the absolute minimum number of 2-input NAND gates required to implement a 2-input Exclusive-OR (XOR) logic gate?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3 NAND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4 NAND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5 NAND gates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6 NAND gates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6 of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4: Multiplexer Logic Function Realization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4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Q4. An 8:1 Multiplexer has select inputs (S2, S1, S0) connected to variables (A, B, C). Data inputs are set as: I0=D, I1=D', I2=0, I3=1, I4=D, I5=D, I6=1, I7=0. Which minterm expression F(A,B,C,D) does this MUX realize?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F = Σ m(0, 3, 4, 8, 9, 10, 13, 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F = Σ m(0, 3, 7, 8, 9, 10, 12, 13)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F = Σ m(0, 3, 6, 8, 9, 10, 12, 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F = Σ m(1, 3, 6, 8, 9, 11, 12, 14)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7 of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5: Propagation Delay &amp; Critical Path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5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Q5. A 4-bit Ripple Carry Adder is constructed using Full Adders, where each Full Adder consists of 2-input XOR gates (delay t_XOR = 5 ns), 2-input AND gates (delay t_AND = 2 ns), and 2-input OR gates (delay t_OR = 2 ns). What is the total critical path propagation delay for the worst-case carry propagation?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18 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21 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24 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29 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8 of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6: Incompletely Specified Functions &amp; Don't Cares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6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Q6. Given the incomplete Boolean function f(A,B,C,D) = Σ m(1, 3, 7, 11, 15) with don't care conditions d(A,B,C,D) = Σ d(0, 2, 5), what is the minimal Sum-of-Products (SOP) expression?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F = C'D + A'B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F = CD + A'B'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F = CD + A'D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F = C'D' + 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9 of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7: Active-LOW Decoder Logic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7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Q7. A 3-to-8 line decoder with Active-LOW outputs (Y0' through Y7') is used to implement a logic function F(A,B,C). If the desired output is F = Σ m(1, 3, 6, 7), which external gate must be connected to the decoder outputs?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A 4-input AND gate connected to Y1', Y3', Y6', Y7'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A 4-input NAND gate connected to Y1', Y3', Y6', Y7'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A 4-input OR gate connected to Y1', Y3', Y6', Y7'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A 4-input NOR gate connected to Y1', Y3', Y6', Y7'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10 of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8: 6-Variable K-Map Sub-cube Adjacency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8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Q8. In a 6-variable K-map consisting of four 4-variable sub-maps (M00, M01, M10, M11 corresponding to variables U,V), which cell in sub-map M11 is logically adjacent to cell m(12) located in sub-map M00?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m(28)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m(44)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m(60)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No cell in M11 is adjacent to m(12)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11 of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9: Cascaded 4-bit Magnitude Comparators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9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Q9. Two 4-bit magnitude comparators (IC 7485) are cascaded to compare two 8-bit numbers A = A7..A0 and B = B7..B0. If the lower stage inputs receive A4..A1 and upper stage receives A7..A4, which cascading input pins of the most significant stage must be tied to logic HIGH?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A &lt; B cascade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A = B cascade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A &gt; B cascade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Both A &lt; B and A &gt; B 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12 of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QUESTIONS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10: Self-Dual Boolean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10 OF 20   |   [TIME] 3 Mins   |   [WEIGHT] 2 Marks   |   [PENALTY] -0.5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Verdana"/>
              </a:defRPr>
            </a:pPr>
            <a:r>
              <a:t>Q10. A Boolean function F(x1, x2, x3) is self-dual if F(x1, x2, x3) = F'(x1', x2', x3'). How many distinct self-dual Boolean functions of n = 3 variables exist?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(A) 8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(B) 16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(C) 32 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8FAFC"/>
                </a:solidFill>
                <a:latin typeface="Verdana"/>
              </a:defRPr>
            </a:pPr>
            <a:r>
              <a:t>(D) 256 functions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13 of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KL ECE | SAMYAK 2026 | LOGIC MATRIX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Section B: Short Answer &amp; Design Problems (Q11 – Q18)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026FF"/>
                </a:solidFill>
                <a:latin typeface="Georgia"/>
              </a:defRPr>
            </a:pPr>
            <a:r>
              <a:t>SECTION B: SHORT ANSWER &amp; DESIGN PROBLEMS</a:t>
            </a:r>
          </a:p>
          <a:p>
            <a:br/>
            <a:pPr algn="ctr">
              <a:defRPr sz="1400" b="1">
                <a:solidFill>
                  <a:srgbClr val="FFB700"/>
                </a:solidFill>
                <a:latin typeface="Verdana"/>
              </a:defRPr>
            </a:pPr>
            <a:r>
              <a:t>• Total Questions: 8  |  Marks per Question: 5 Marks  |  Total Section Marks: 40</a:t>
            </a:r>
          </a:p>
          <a:p>
            <a:br/>
            <a:pPr algn="ctr">
              <a:defRPr sz="1300">
                <a:solidFill>
                  <a:srgbClr val="F8FAFC"/>
                </a:solidFill>
                <a:latin typeface="Verdana"/>
              </a:defRPr>
            </a:pPr>
            <a:r>
              <a:t>• Evaluation: Stepwise credit for Truth Tables, Algebraic Axioms, K-Map Visual Groups, and Circuit Diagrams.</a:t>
            </a:r>
          </a:p>
          <a:p>
            <a:br/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• Topics Covered:</a:t>
            </a:r>
            <a:br/>
            <a:r>
              <a:t>  1. Algebraic Reduction &amp; Universal Gate Conversion</a:t>
            </a:r>
            <a:br/>
            <a:r>
              <a:t>  2. 4-Variable K-Map Prime Implicant Analysis</a:t>
            </a:r>
            <a:br/>
            <a:r>
              <a:t>  3. 6-Variable K-Map Sub-map Minimization</a:t>
            </a:r>
            <a:br/>
            <a:r>
              <a:t>  4. Multiplexer Tree Logic Realization</a:t>
            </a:r>
            <a:br/>
            <a:r>
              <a:t>  5. Static Hazard Elimination &amp; Timing Diagrams</a:t>
            </a:r>
            <a:br/>
            <a:r>
              <a:t>  6. Full Subtractor via NOR-NOR Logic</a:t>
            </a:r>
            <a:br/>
            <a:r>
              <a:t>  7. Priority Encoder &amp; Valid Bit Circuitry</a:t>
            </a:r>
            <a:br/>
            <a:r>
              <a:t>  8. Odd Parity Generator &amp; Propagation Delay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14 of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11: Algebraic Simplification &amp; NAND Realization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11 OF 20   |   [TIME] 10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Q11. Simplify the given Boolean expression algebraically using Boolean theorems:</a:t>
            </a:r>
            <a:br/>
            <a:r>
              <a:t>F(A, B, C) = A'B'C' + A'B'C + A'BC' + AB'C'</a:t>
            </a:r>
            <a:br/>
            <a:r>
              <a:t>After finding the minimal Sum-of-Products (SOP) expression, convert the function into an equivalent 2-level NAND-NAND circuit.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Show step-by-step algebraic manipulation citing Boolean laws (Adjacency, Absorption, DeMorgan) [2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State the minimal SOP expression [1 Mark]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Draw the equivalent logic diagram using 2-input NAND gates ONLY [2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15 of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12: 4-Variable K-Map &amp; Implicant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12 OF 20   |   [TIME] 12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Q12. A 4-variable Boolean function is defined as:</a:t>
            </a:r>
            <a:br/>
            <a:r>
              <a:t>F(W, X, Y, Z) = Σ m(0, 1, 2, 8, 9, 10, 11, 14, 15) + d(3, 7)</a:t>
            </a:r>
            <a:br/>
            <a:r>
              <a:t>Perform a rigorous K-map minimization on a 4x4 grid.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Draw the complete 4x4 K-map grid with correct Gray code indexing (00, 01, 11, 10) [1 Mark]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Circle and identify ALL Prime Implicants (PIs) and highlight Essential Prime Implicants (EPIs) [2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Write the minimal SOP expression and verify whether any alternative minimal expressions exist [2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16 of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13: 6-Variable K-Map Minimization Across Sub-maps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13 OF 20   |   [TIME] 15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Q13. Minimize the following 6-variable function F(A, B, C, D, E, F):</a:t>
            </a:r>
            <a:br/>
            <a:r>
              <a:t>F = Σ m(0, 4, 16, 20, 32, 36, 48, 52) + d(1, 5, 17, 21)</a:t>
            </a:r>
            <a:br/>
            <a:r>
              <a:t>where variables A,B select one of four 4-variable sub-maps (M00, M01, M10, M11) and C,D,E,F index cells within each sub-map.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Plot minterms across all four 4x4 sub-maps for (A,B) = (00, 01, 10, 11) [2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Identify 3D / 4D sub-cube adjacencies across sub-maps [1.5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Derive the overall minimal SOP expression [1.5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17 of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14: Multiplexer Tree Design (4:1 MUX Logic Realization)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14 OF 20   |   [TIME] 12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Q14. Implement the 4-variable logic function:</a:t>
            </a:r>
            <a:br/>
            <a:r>
              <a:t>F(A, B, C, D) = Σ m(0, 1, 3, 4, 8, 9, 15)</a:t>
            </a:r>
            <a:br/>
            <a:r>
              <a:t>using a single 4:1 Multiplexer and minimal external logic gates. Connect variables A and B to the MUX select lines S1 and S0 respectively.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Construct the MUX implementation table derived from inputs C and D for each combination of AB = (00, 01, 10, 11) [2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Determine the input expressions for I0, I1, I2, I3 in terms of C and D [1.5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Draw the complete circuit diagram showing the 4:1 MUX, select line connections, and input gate logic [1.5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18 of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15: Static Hazard Detection &amp; Elimination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15 OF 20   |   [TIME] 12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Q15. Consider the combinational circuit implementing F = A*B + A'*C.</a:t>
            </a:r>
            <a:br/>
            <a:r>
              <a:t>When inputs are B=1 and C=1, a transition of input A from 1 to 0 produces a transient glitch (Static 1-Hazard) due to inverter delay.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Draw the timing diagram showing propagation delay of inverter A' causing both product terms to briefly equal 0 [2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Apply the Consensus Theorem to identify the essential hazard-free cover term [1.5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Draw the hazard-free modified circuit diagram [1.5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19 of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16: Full Subtractor Design using NOR-NOR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16 OF 20   |   [TIME] 12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Q16. Design a 1-bit Full Subtractor that computes Difference (Diff) and Borrow-out (B_out) for inputs A (Minuend), B (Subtrahend), and B_in (Borrow-in).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Construct the complete 8-row Truth Table for Diff and B_out [1 Mark]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Derive canonical Product-of-Sums (POS) expressions and simplify using K-maps [2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Draw the complete logic implementation using 2-input NOR gates ONLY [2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20 of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17: 4-to-2 Priority Encoder with Valid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17 OF 20   |   [TIME] 10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Q17. Design a 4-to-2 Priority Encoder with Active-HIGH inputs D3, D2, D1, D0, where D3 has the highest priority and D0 has the lowest priority. The encoder outputs are Y1, Y0, and a Valid bit 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Write the truth table specifying input conditions and don't care states (X) [1.5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Derive minimal Boolean expressions for Y1, Y0, and V using K-maps [1.5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Draw the gate-level schematic diagram [2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21 of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SHORT ANSWER &amp; DESIGN PROBLEMS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18: Parity Generator / Checker &amp; Timing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[Q] QUESTION 18 OF 20   |   [TIME] 12 Mins   |   [MAX MARKS] 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Q18. Design a 4-bit Odd Parity Generator (accepts data bits P3 P2 P1 P0 and outputs odd parity bit P_odd) and a corresponding 5-bit Odd Parity Checker (outputs Error bit 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2377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[TASKS] REQUIRED STEPS &amp; SUB-TASKS FOR FULL MARKS: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Write the XOR/XNOR logic equations for P_odd and Error bit E [1.5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Draw the complete logic circuit using 2-input XOR gates organized in a tree structure [2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Calculate total propagation delay from input P3..P0 to Error bit E if each XOR gate has t_pd = 3.5 ns [1.5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22 of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KL ECE | SAMYAK 2026 | LOGIC MATRIX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Section C: Tricky Puzzles &amp; Brainteasers (Q19 – Q20)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B700"/>
                </a:solidFill>
                <a:latin typeface="Georgia"/>
              </a:defRPr>
            </a:pPr>
            <a:r>
              <a:t>SECTION C: TRICKY PUZZLES &amp; BRAINTEASERS</a:t>
            </a:r>
          </a:p>
          <a:p>
            <a:br/>
            <a:pPr algn="ctr">
              <a:defRPr sz="1400" b="1">
                <a:solidFill>
                  <a:srgbClr val="00F0FF"/>
                </a:solidFill>
                <a:latin typeface="Verdana"/>
              </a:defRPr>
            </a:pPr>
            <a:r>
              <a:t>• Total Questions: 2  |  Marks per Question: 10 Marks  |  Total Section Marks: 20</a:t>
            </a:r>
          </a:p>
          <a:p>
            <a:br/>
            <a:pPr algn="ctr">
              <a:defRPr sz="1300">
                <a:solidFill>
                  <a:srgbClr val="F8FAFC"/>
                </a:solidFill>
                <a:latin typeface="Verdana"/>
              </a:defRPr>
            </a:pPr>
            <a:r>
              <a:t>• Purpose: Test high-level analytical problem solving, fault diagnosis, and structural logic optimization.</a:t>
            </a:r>
          </a:p>
          <a:p>
            <a:br/>
            <a:pPr>
              <a:defRPr sz="1200">
                <a:solidFill>
                  <a:srgbClr val="94A3B8"/>
                </a:solidFill>
                <a:latin typeface="Verdana"/>
              </a:defRPr>
            </a:pPr>
            <a:r>
              <a:t>• Q19: The Black-Box Fault Diagnostic Puzzle (Stuck-At Fault Testing &amp; Test Vector Generation)</a:t>
            </a:r>
            <a:br/>
            <a:r>
              <a:t>• Q20: The Self-Complementing Excess-3 Digital Lock Puzzle (Structural Gate Reduction &amp; 9's Complement)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23 of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C — TRICKY PUZZLES &amp; BRAINTEASERS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19: The Faulty Black-Box Diagnostic Puzzle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[PUZZLE 1 OF 2]   |   [TIME] 20 Mins   |   [MAX MARKS] 10 Marks (HIGH WEIGHTAGE)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194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Verdana"/>
              </a:defRPr>
            </a:pPr>
            <a:r>
              <a:t>Q19. A sealed digital module contains a 3-input majority logic function F(A,B,C) = AB + BC + CA constructed using three 2-input AND gates feeding a 3-input OR gate.</a:t>
            </a:r>
            <a:br/>
            <a:r>
              <a:t>During quality testing, a technician discovers that exactly ONE internal gate output node is suffering from a Stuck-at-0 (s-a-0) fault.</a:t>
            </a:r>
            <a:br/>
            <a:r>
              <a:t>You are permitted to apply test vectors (ABC) at the external inputs and observe the single output 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11277295" cy="2194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[TARGET] PUZZLE CHALLENGE REQUIREMENTS: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Construct the Fault Table showing expected output vs actual output for all 8 input combinations (000 to 111) under each candidate node fault (Node N1: AB, Node N2: BC, Node N3: CA, Node N4: OR output) [4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Determine the ABSOLUTE MINIMAL set of test vectors required to uniquely locate and diagnose which specific node has the stuck-at-0 fault [3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Prove why a single test vector ABC = 111 is insufficient for fault identification [3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24 of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C — TRICKY PUZZLES &amp; BRAINTEASERS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Question 20: The Self-Complementing Lock &amp; Switch Matrix Puzzle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700"/>
                </a:solidFill>
                <a:latin typeface="Verdana"/>
              </a:defRPr>
            </a:pPr>
            <a:r>
              <a:t>  [PUZZLE 2 OF 2]   |   [TIME] 20 Mins   |   [MAX MARKS] 10 Marks (HIGH WEIGHTAGE)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77295" cy="2194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Verdana"/>
              </a:defRPr>
            </a:pPr>
            <a:r>
              <a:t>Q20. A high-security vault uses an Excess-3 BCD input code X3 X2 X1 X0 representing a decimal digit D (0 to 9). The lock requires a circuit that outputs Y3 Y2 Y1 Y0 representing the 9's complement of D (i.e., 9 - D in Excess-3 BCD).</a:t>
            </a:r>
            <a:br/>
            <a:r>
              <a:t>A naive engineer proposes building 4 separate K-maps for Y3, Y2, Y1, Y0 using all 16 minterm slots (including 6 don't care conditions for invalid BCD inputs 0,1,2,13,14,15).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11277295" cy="2194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[TARGET] PUZZLE CHALLENGE REQUIREMENTS: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(a) Prove mathematically using the Self-Complementing Property of Excess-3 code that 9's complement is obtained by simply bitwise complementing inputs! [3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(b) Derive the minimal Boolean expressions for Y3, Y2, Y1, Y0 under both the naive K-map approach and the self-complementing bit-inversion approach [4 Marks]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(c) Show that the self-complementing property reduces total gate count from 14 gates to 4 INVERTER gates (71.4% gate reduction!) [3 Marks]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25 of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KL ECE | SAMYAK 2026 | LOGIC MATRIX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Sudden Death Tie-Breaker Round (In Case of Equal Scores)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  <a:latin typeface="Georgia"/>
              </a:defRPr>
            </a:pPr>
            <a:r>
              <a:t>[TIE-BREAKER] SUDDEN DEATH QUESTIONS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In the event of a tie in overall score at 12:30 PM, the tied teams will face the following 3 rapid-fire questions (2 minutes per question):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TB Q1 (Hazard Elimination Speed Test):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  Identify the consensus term required to eliminate the static 0-hazard in the POS function F = (A + B)(A' + C).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TB Q2 (Multiplexer Tree Capacity):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  How many 2:1 Multiplexers are required to construct a 64:1 Multiplexer tree without any external logic gates?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TB Q3 (Universal Gate Count Challenge):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  What is the minimum number of 2-input NOR gates required to implement a 2-input XNOR gate?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26 of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0FF"/>
                </a:solidFill>
                <a:latin typeface="Georgia"/>
              </a:defRPr>
            </a:pPr>
            <a:r>
              <a:t>TIME IS UP!</a:t>
            </a:r>
          </a:p>
          <a:p>
            <a:pPr algn="ctr">
              <a:defRPr sz="1800" b="1">
                <a:solidFill>
                  <a:srgbClr val="FFB700"/>
                </a:solidFill>
                <a:latin typeface="Verdana"/>
              </a:defRPr>
            </a:pPr>
            <a:r>
              <a:t>SAMYAK 2026 — LOGIC MATRIX COMPETITION CONCLUDED</a:t>
            </a:r>
          </a:p>
          <a:p>
            <a:br/>
            <a:pPr algn="ctr">
              <a:defRPr sz="1300">
                <a:solidFill>
                  <a:srgbClr val="F8FAFC"/>
                </a:solidFill>
                <a:latin typeface="Verdana"/>
              </a:defRPr>
            </a:pPr>
            <a:r>
              <a:t>1. Please stop writing immediately and assemble your answer booklets.</a:t>
            </a:r>
            <a:br/>
            <a:r>
              <a:t>2. Ensure your Team Registration ID and College Name are clearly written on Page 1.</a:t>
            </a:r>
            <a:br/>
            <a:r>
              <a:t>3. Hand over your answer booklet to the proctoring desk in Room R406A.</a:t>
            </a:r>
            <a:br/>
            <a:r>
              <a:t>4. Official evaluation and solution key presentation will follow shortly.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27 of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