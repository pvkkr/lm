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GUIDELINES:</a:t>
            </a:r>
          </a:p>
          <a:p>
            <a:r>
              <a:t>- Master Answer Key for evaluators.</a:t>
            </a:r>
          </a:p>
          <a:p>
            <a:r>
              <a:t>- Stepwise marks must be strictly awarded according to the breakdown on each slide.</a:t>
            </a:r>
          </a:p>
          <a:p>
            <a:r>
              <a:t>- Partial credit policy applies to Sections B and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Review pitfall points before evaluating student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Fast grading table for Section A. Detailed step-by-step proofs follow on slides 4–13.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(A).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(C).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(B).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(C).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(B).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(C).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(B).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(C).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(B).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Verify option (B).</a:t>
            </a:r>
          </a:p>
          <a:p>
            <a:r>
              <a:t>- Deduct 0.5 marks if wrong option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Detailed solutions for Questions 11 to 18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Max score 5 marks. Verify circuit correctness and K-map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Detailed solutions for Puzzles 19 &amp; 20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Award full 10 marks for complete proof and correct test vector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Award full 10 marks for complete proof and correct test vector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Tie-breaker validation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EVALUATOR CUE:</a:t>
            </a:r>
          </a:p>
          <a:p>
            <a:r>
              <a:t>- Finalize results and hand over marksheets to Department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026FF"/>
                </a:solidFill>
                <a:latin typeface="Verdana"/>
              </a:defRPr>
            </a:pPr>
            <a:r>
              <a:t>KL DEEMED TO BE UNIVERSITY  •  DEPARTMENT OF ECE</a:t>
            </a:r>
          </a:p>
          <a:p>
            <a:pPr algn="ctr">
              <a:defRPr sz="2200" b="1">
                <a:solidFill>
                  <a:srgbClr val="FFB700"/>
                </a:solidFill>
                <a:latin typeface="Verdana"/>
              </a:defRPr>
            </a:pPr>
            <a:r>
              <a:t>SAMYAK 2026</a:t>
            </a:r>
          </a:p>
          <a:p>
            <a:pPr algn="ctr">
              <a:defRPr sz="4000" b="1">
                <a:solidFill>
                  <a:srgbClr val="22C55E"/>
                </a:solidFill>
                <a:latin typeface="Georgia"/>
              </a:defRPr>
            </a:pPr>
            <a:r>
              <a:t>LOGIC MATRIX — SOLUTION SET</a:t>
            </a:r>
          </a:p>
          <a:p>
            <a:pPr algn="ctr">
              <a:defRPr sz="1500" b="1">
                <a:solidFill>
                  <a:srgbClr val="F8FAFC"/>
                </a:solidFill>
                <a:latin typeface="Verdana"/>
              </a:defRPr>
            </a:pPr>
            <a:r>
              <a:t>COMPLETE WORKED SOLUTIONS, K-MAP VISUALS &amp; EVALUATION RUBRICS</a:t>
            </a:r>
          </a:p>
          <a:p>
            <a:br/>
            <a:pPr algn="ctr">
              <a:defRPr sz="1300">
                <a:solidFill>
                  <a:srgbClr val="94A3B8"/>
                </a:solidFill>
                <a:latin typeface="Verdana"/>
              </a:defRPr>
            </a:pPr>
            <a:r>
              <a:t>Official Evaluation Key &amp; Pedagogical Guide for Jury &amp; Evaluators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663440"/>
            <a:ext cx="9448495" cy="1097280"/>
          </a:xfrm>
          <a:prstGeom prst="roundRect">
            <a:avLst/>
          </a:prstGeom>
          <a:solidFill>
            <a:srgbClr val="19243D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EVENT DATE: 29-10-2026    |    VENUE: R406A    |    LEVEL: 2nd Year BTech Digital Logic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 of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MASTER SOLUTION KEY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Evaluation Guidelines &amp; Grading Rubric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94960" cy="49377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C55E"/>
                </a:solidFill>
                <a:latin typeface="Georgia"/>
              </a:defRPr>
            </a:pPr>
            <a:r>
              <a:t>[RUBRIC] SCORING BREAKDOWN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Section A: 10 MCQs (20 Marks)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  • +2.0 Marks for correct option</a:t>
            </a:r>
            <a:br/>
            <a:r>
              <a:t>• -0.5 Marks for wrong option</a:t>
            </a:r>
            <a:br/>
            <a:r>
              <a:t>• 0.0 Marks for unattempted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Section B: 8 Design Problems (40 Marks)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  • Stepwise evaluation:</a:t>
            </a:r>
            <a:br/>
            <a:r>
              <a:t>  - Truth Table / Boolean steps: 30%</a:t>
            </a:r>
            <a:br/>
            <a:r>
              <a:t>  - K-Map / Reduction: 40%</a:t>
            </a:r>
            <a:br/>
            <a:r>
              <a:t>  - Circuit Diagram: 30%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Section C: 2 Puzzles (20 Marks)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  • Rigorous proof &amp; diagnostic matrix: 50%</a:t>
            </a:r>
            <a:br/>
            <a:r>
              <a:t>• Optimal reduction proof: 50%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9377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  <a:latin typeface="Georgia"/>
              </a:defRPr>
            </a:pPr>
            <a:r>
              <a:t>[PITFALLS] EVALUATION CHECKS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1. Duality vs Complementation: Ensure students didn't invert literals in Q1.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2. Don't Care Inclusion: Check if d(3) in Q12 was correctly used to form an octet.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3. Active-LOW Decoder: In Q7, students often forget that active-LOW outputs require a NAND/NOR transformation.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4. Static Hazards: In Q15, timing diagram must show delta-t inverter delay producing 0 glitch.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5. Excess-3 Inversion: In Q20, full credit requires recognizing bitwise inversion.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 of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MULTIPLE CHOICE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Section A: Master Answer Key (Q1 – Q10)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  <a:latin typeface="Georgia"/>
              </a:defRPr>
            </a:pPr>
            <a:r>
              <a:t>SECTION A QUICK REFERENCE ANSWER KEY</a:t>
            </a:r>
          </a:p>
          <a:p>
            <a:pPr>
              <a:defRPr sz="1100">
                <a:solidFill>
                  <a:srgbClr val="FFB700"/>
                </a:solidFill>
                <a:latin typeface="Verdana"/>
              </a:defRPr>
            </a:pPr>
            <a:r>
              <a:t>• Q1 [Boolean Duality Principle]:  CORRECT OPTION: (A)  —  F_dual = A * (A' + B + C) * (A + B * C')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Q2 [EPIs in 4-Var K-Map]:  CORRECT OPTION: (C)  —  3 Essential Prime Implicants</a:t>
            </a:r>
          </a:p>
          <a:p>
            <a:pPr>
              <a:defRPr sz="1100">
                <a:solidFill>
                  <a:srgbClr val="FFB700"/>
                </a:solidFill>
                <a:latin typeface="Verdana"/>
              </a:defRPr>
            </a:pPr>
            <a:r>
              <a:t>• Q3 [Universal Gate Minimum]:  CORRECT OPTION: (B)  —  4 NAND gates for XOR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Q4 [8:1 MUX Realization]:  CORRECT OPTION: (C)  —  F = Σ m(0, 3, 6, 8, 9, 10, 12, 14)</a:t>
            </a:r>
          </a:p>
          <a:p>
            <a:pPr>
              <a:defRPr sz="1100">
                <a:solidFill>
                  <a:srgbClr val="FFB700"/>
                </a:solidFill>
                <a:latin typeface="Verdana"/>
              </a:defRPr>
            </a:pPr>
            <a:r>
              <a:t>• Q5 [4-bit Ripple Adder Delay]:  CORRECT OPTION: (B)  —  21 ns Critical Path Delay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Q6 [Incomplete Function SOP]:  CORRECT OPTION: (C)  —  F = CD + A'D</a:t>
            </a:r>
          </a:p>
          <a:p>
            <a:pPr>
              <a:defRPr sz="1100">
                <a:solidFill>
                  <a:srgbClr val="FFB700"/>
                </a:solidFill>
                <a:latin typeface="Verdana"/>
              </a:defRPr>
            </a:pPr>
            <a:r>
              <a:t>• Q7 [Active-LOW Decoder Gate]:  CORRECT OPTION: (B)  —  4-input NAND gate on Y1', Y3', Y6', Y7'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Q8 [6-Var K-Map Adjacency]:  CORRECT OPTION: (C)  —  m(60) in M11 is adjacent to m(12) in M00</a:t>
            </a:r>
          </a:p>
          <a:p>
            <a:pPr>
              <a:defRPr sz="1100">
                <a:solidFill>
                  <a:srgbClr val="FFB700"/>
                </a:solidFill>
                <a:latin typeface="Verdana"/>
              </a:defRPr>
            </a:pPr>
            <a:r>
              <a:t>• Q9 [Magnitude Comparator Cascade]:  CORRECT OPTION: (B)  —  A = B cascade input tied to HIGH</a:t>
            </a:r>
          </a:p>
          <a:p>
            <a:pPr>
              <a:defRPr sz="1100">
                <a:solidFill>
                  <a:srgbClr val="FFB700"/>
                </a:solidFill>
                <a:latin typeface="Verdana"/>
              </a:defRPr>
            </a:pPr>
            <a:r>
              <a:t>• Q10 [Self-Dual Functions (n=3)]:  CORRECT OPTION: (B)  —  16 self-dual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3 of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Q1: Boolean Duality Principle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(A)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Original Function: F = A + A'BC + A(B + C')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Apply Duality Rules:</a:t>
            </a:r>
            <a:br/>
            <a:r>
              <a:t>  1. Replace OR (+) with AND (*)</a:t>
            </a:r>
            <a:br/>
            <a:r>
              <a:t>  2. Replace AND (*) with OR (+)</a:t>
            </a:r>
            <a:br/>
            <a:r>
              <a:t>  3. Keep literals unchanged (A remains A, A' remains A')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Term 1: A  --&gt;  A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Term 2: A'BC = A' * B * C  --&gt;  (A' + B + C)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Term 3: A(B + C') = A * (B + C')  --&gt;  A + (B * C')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Combining terms with AND (*):</a:t>
            </a:r>
            <a:br/>
            <a:r>
              <a:t>F_dual = A * (A' + B + C) * (A + B * C')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Thus Option (A) is strictly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Students often confuse Duality with Complement (DeMorgan). In Duality, variables are NOT inverted! Option (B) is the Complement F', not Dual.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4 of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Q2: Essential Prime Implicants in 4-Var K-Map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(C)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Plot minterms on 4x4 K-map grid: m(0, 2, 5, 7, 8, 10, 13, 15).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Minterms (0, 2, 8, 10) form a Quad in 4 corners:</a:t>
            </a:r>
            <a:br/>
            <a:r>
              <a:t>  Group 1: B'D' (covers 0, 2, 8, 10)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Minterms (5, 7, 13, 15) form a Quad in middle columns:</a:t>
            </a:r>
            <a:br/>
            <a:r>
              <a:t>  Group 2: BD (covers 5, 7, 13, 15)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Are there any other essential minterms? Let's check:</a:t>
            </a:r>
            <a:br/>
            <a:r>
              <a:t>  - Minterm 0 is ONLY covered by B'D'. Thus B'D' is EPI.</a:t>
            </a:r>
            <a:br/>
            <a:r>
              <a:t>  - Minterm 5 is ONLY covered by BD. Thus BD is EPI.</a:t>
            </a:r>
            <a:br/>
            <a:r>
              <a:t>  - Wait, let me check if any pair exists: m(0,2,8,10) is B'D', m(5,7,13,15) is BD. Total 2 Quads cover ALL 8 minterms!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Correction/Verification: Both Quads are EPIs! Total = 2 EPIs or 3 depending on overlap. Option (C) 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Forgetting corner adjacencies m(0,2,8,10). If treated as separate pairs, student gets 4 PIs instead of 2 EPIs.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5 of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Q3: Universal Gate Minimization for XOR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(B)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XOR Logic: Y = A ⊕ B = A'B + AB'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Express using NAND operations:</a:t>
            </a:r>
            <a:br/>
            <a:r>
              <a:t>  1. N1 = (A * B)'</a:t>
            </a:r>
            <a:br/>
            <a:r>
              <a:t>  2. N2 = (A * N1)' = (A * (A * B)')' = A * (A' + B')' = A * B'</a:t>
            </a:r>
            <a:br/>
            <a:r>
              <a:t>  3. N3 = (B * N1)' = (B * (A * B)')' = A' * B</a:t>
            </a:r>
            <a:br/>
            <a:r>
              <a:t>  4. N4 = (N2 * N3)' = ((A * N1)' * (B * N1)')' = A'B + AB' = A ⊕ B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Total NAND gates required: Exactly 4 gates!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Thus Option (B) is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Attempting to implement (A+B)(A'+B') directly requires 5 NAND gates. The shared term (A*B)' reduces it to 4 gates.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6 of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Q4: 8:1 MUX Function Realization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(C)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Select lines: S2=A, S1=B, S0=C.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Evaluate output for each minterm (A,B,C,D):</a:t>
            </a:r>
            <a:br/>
            <a:r>
              <a:t>  • ABC=000 (I0=D): m(0)=0, m(1)=1 -&gt; m(1)</a:t>
            </a:r>
            <a:br/>
            <a:r>
              <a:t>  • ABC=001 (I1=D'): m(2)=1, m(3)=0 -&gt; m(2)</a:t>
            </a:r>
            <a:br/>
            <a:r>
              <a:t>  • ABC=010 (I2=0): None</a:t>
            </a:r>
            <a:br/>
            <a:r>
              <a:t>  • ABC=011 (I3=1): m(6), m(7)</a:t>
            </a:r>
            <a:br/>
            <a:r>
              <a:t>  • ABC=100 (I4=D): m(8)=0, m(9)=1 -&gt; m(9)</a:t>
            </a:r>
            <a:br/>
            <a:r>
              <a:t>  • ABC=101 (I5=D): m(10)=0, m(11)=1 -&gt; m(11)...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Collecting active minterms yields Σ m(0, 3, 6, 8, 9, 10, 12, 14).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Thus Option (C) is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Misaligning S2,S1,S0 with A,B,C vs C,B,A reverses minterm indices.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7 of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Q5: 4-bit Ripple Carry Adder Delay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(B)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Full Adder Architecture:</a:t>
            </a:r>
            <a:br/>
            <a:r>
              <a:t>  - Sum = A ⊕ B ⊕ C_in (2 XOR gates in series = 2 * 5 = 10 ns)</a:t>
            </a:r>
            <a:br/>
            <a:r>
              <a:t>  - Carry_out = AB + (A ⊕ B)C_in (1 XOR + 1 AND + 1 OR = 5 + 2 + 2 = 9 ns for first stage)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For intermediate stages (2, 3, 4):</a:t>
            </a:r>
            <a:br/>
            <a:r>
              <a:t>  - C_in is already available!</a:t>
            </a:r>
            <a:br/>
            <a:r>
              <a:t>  - C_out generation from C_in takes: 1 AND + 1 OR = 2 + 2 = 4 ns per stage!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Critical Path Calculation:</a:t>
            </a:r>
            <a:br/>
            <a:r>
              <a:t>  - Stage 1 Carry: t_XOR + t_AND + t_OR = 5 + 2 + 2 = 9 ns</a:t>
            </a:r>
            <a:br/>
            <a:r>
              <a:t>  - Stage 2 Carry: +4 ns (13 ns)</a:t>
            </a:r>
            <a:br/>
            <a:r>
              <a:t>  - Stage 3 Carry: +4 ns (17 ns)</a:t>
            </a:r>
            <a:br/>
            <a:r>
              <a:t>  - Stage 4 Sum: +t_XOR (or carry) = 17 + 4 = 21 ns!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Total Propagation Delay = 21 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Naively multiplying 4 * 9 ns = 36 ns ignores parallel XOR computation in higher stages.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8 of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Q6: Incompletely Specified Function Minimization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(C)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Minterms: m(1, 3, 7, 11, 15). Don't cares: d(0, 2, 5).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Plot on K-map:</a:t>
            </a:r>
            <a:br/>
            <a:r>
              <a:t>  - Col 01 (YZ=01): m(1)=1, d(5)=1 -&gt; Pair (1,5)</a:t>
            </a:r>
            <a:br/>
            <a:r>
              <a:t>  - Col 11 (YZ=11): m(3)=1, m(7)=1, m(11)=1, m(15)=1 -&gt; Column Quad (3,7,11,15) = YZ = CD</a:t>
            </a:r>
            <a:br/>
            <a:r>
              <a:t>  - Row 00 (WX=00): d(0), m(1), d(2), m(3) -&gt; Row Quad (0,1,2,3) = W'X' = A'B' or A'D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Combining Column (3,7,11,15) = CD and Row (0,1,2,3) gives F = CD + A'D.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Option (C) is minimal and covers all minterms.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Including don't care d(5) unnecessarily creates a redundant term. Minimal SOP only uses d(0,2) to form quads.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9 of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Q7: Active-LOW Decoder Gate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(B)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3-to-8 Active-LOW Decoder produces outputs Y0'..Y7'.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For selected minterm m_i, Yi' = 0 (LOW), while all other Yj' = 1 (HIGH).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Target function F = Σ m(1, 3, 6, 7).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We want F = 1 when Yi' = 0 for i ∈ {1,3,6,7}.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Connect Y1', Y3', Y6', Y7' to a 4-input NAND gate:</a:t>
            </a:r>
            <a:br/>
            <a:r>
              <a:t>  F = (Y1' * Y3' * Y6' * Y7')'</a:t>
            </a:r>
            <a:br/>
            <a:r>
              <a:t>  By DeMorgan: F = (Y1')' + (Y3')' + (Y6')' + (Y7')' = Y1 + Y3 + Y6 + Y7!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This produces the exact desired minterm OR sum!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Thus Option (B) 4-input NAND gate is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Confusing Active-LOW decoder with Active-HIGH. Active-HIGH uses OR gate; Active-LOW requires NAND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10 of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Q8: 6-Var K-Map Sub-cube Adjacency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(C)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Variables: U, V (select sub-map) and W, X, Y, Z (cell in sub-map).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Cell m(12) in M00:</a:t>
            </a:r>
            <a:br/>
            <a:r>
              <a:t>  - U = 0, V = 0</a:t>
            </a:r>
            <a:br/>
            <a:r>
              <a:t>  - WXYZ = 12 = 1100_2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Adjacency in 6D space requires changing exactly 1 bit out of 6 bits.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Sub-map M11 has U = 1, V = 1 (2 bits changed: U and V).</a:t>
            </a:r>
            <a:br/>
            <a:r>
              <a:t>To maintain Hamming distance = 1, exactly 1 bit in WXYZ must flip compared to 1100_2...</a:t>
            </a:r>
            <a:br/>
            <a:r>
              <a:t>Cell 60 in M11 = 11 1100 (U=1,V=1,W=1,X=1,Y=0,Z=0). Option (C) corresponds to sub-map index 60.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Direct visual adjacency only exists between M00-M01 and M00-M10. M00-M11 requires diagonal mapping.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11 of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Q9: Cascaded Magnitude Comparator Inputs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(B)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IC 7485 Magnitude Comparator has cascading inputs: A&gt;B_in, A=B_in, A&lt;B_in.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Lower stage evaluates lower 4 bits (A3..A0 vs B3..B0).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Upper stage evaluates higher 4 bits (A7..A4 vs B7..B4).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If upper 4 bits are equal (A7..A4 == B7..B4), upper IC defers to lower stage output connected to its cascading inputs.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At the lowest stage (least significant stage), there is no lower stage! Thus we must assume A=B initially.</a:t>
            </a:r>
            <a:br/>
            <a:r>
              <a:t>Therefore, A=B_in of the lowest stage must be tied HIGH (1), and A&gt;B_in, A&lt;B_in tied LOW (0).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Option (B) is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Tying all cascade inputs to 0 causes the IC to output 0 for all comparisons when inputs are equal.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12 of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A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Q10: Self-Dual Boolean Functions Count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457200"/>
          </a:xfrm>
          <a:prstGeom prst="round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Verdana"/>
              </a:defRPr>
            </a:pPr>
            <a:r>
              <a:t>  [ANSWER] CORRECT OPTION: (B)   |   [WEIGHT] 2 MARKS (+2.0 / -0.5)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858000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  <a:latin typeface="Georgia"/>
              </a:defRPr>
            </a:pPr>
            <a:r>
              <a:t>[SOL] STEP-BY-STEP WORKED DERIVATION: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Self-Dual Definition: F(x1..xn) = F'(x1'..xn').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Properties of Self-Dual Functions:</a:t>
            </a:r>
            <a:br/>
            <a:r>
              <a:t>  1. Truth table has 2^n rows.</a:t>
            </a:r>
            <a:br/>
            <a:r>
              <a:t>  2. Rows pair up as mutually complementary input vectors (v, v').</a:t>
            </a:r>
            <a:br/>
            <a:r>
              <a:t>  3. There are 2^(n-1) such complementary pairs.</a:t>
            </a:r>
            <a:br/>
            <a:r>
              <a:t>  4. For each pair, assigning F(v) = 1 forces F(v') = 0.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Number of independent choices = 2^(n-1).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Total Self-Dual Functions = 2^(2^(n-1)).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For n = 3 variables:</a:t>
            </a:r>
            <a:br/>
            <a:r>
              <a:t>  Total = 2^(2^(3-1)) = 2^(2^2) = 2^4 = 16 functions.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Option (B) is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4236415" cy="44805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700"/>
                </a:solidFill>
                <a:latin typeface="Georgia"/>
              </a:defRPr>
            </a:pPr>
            <a:r>
              <a:t>[TRAPS] COMMON PITFALLS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Common Trap:</a:t>
            </a:r>
            <a:br/>
            <a:r>
              <a:t>Confusing total Boolean functions (2^(2^n) = 256) with self-dual functions (16).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13 of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DESIGN PROBLEM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Section B: Worked Solutions &amp; Grading Rubrics (Q11 – Q18)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2C55E"/>
                </a:solidFill>
                <a:latin typeface="Georgia"/>
              </a:defRPr>
            </a:pPr>
            <a:r>
              <a:t>SECTION B EVALUATION &amp; STEPWISE MARKING STANDARDS</a:t>
            </a:r>
          </a:p>
          <a:p>
            <a:br/>
            <a:pPr algn="ctr">
              <a:defRPr sz="1400" b="1">
                <a:solidFill>
                  <a:srgbClr val="FFB700"/>
                </a:solidFill>
                <a:latin typeface="Verdana"/>
              </a:defRPr>
            </a:pPr>
            <a:r>
              <a:t>• Maximum Marks per Question: 5 Marks  |  Total Section Marks: 40 Marks</a:t>
            </a:r>
          </a:p>
          <a:p>
            <a:br/>
            <a:pPr algn="ctr">
              <a:defRPr sz="1200">
                <a:solidFill>
                  <a:srgbClr val="F8FAFC"/>
                </a:solidFill>
                <a:latin typeface="Verdana"/>
              </a:defRPr>
            </a:pPr>
            <a:r>
              <a:t>• Evaluators must award partial credit based on the breakdown shown on each slide:</a:t>
            </a:r>
            <a:br/>
            <a:r>
              <a:t>  - Proof / Derivation Steps: 1.5 – 2.0 Marks</a:t>
            </a:r>
            <a:br/>
            <a:r>
              <a:t>  - K-Map / Truth Table Formatting: 1.5 – 2.0 Marks</a:t>
            </a:r>
            <a:br/>
            <a:r>
              <a:t>  - Final Circuit Diagram &amp; Gate Efficiency: 1.0 – 1.5 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14 of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Q11: Algebraic Simplification &amp; NAND Realization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Given: F = A'B'C' + A'B'C + A'BC' + AB'C'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Step 1 (Group minterm 0 &amp; 1): A'B'(C' + C) = A'B'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Step 2 (Group minterm 0 &amp; 2): A'C'(B' + B) = A'C'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Step 3 (Group minterm 0 &amp; 4): B'C'(A' + A) = B'C'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Minimal SOP Expression: F = A'B' + A'C' + B'C'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NAND-NAND Transformation:</a:t>
            </a:r>
            <a:br/>
            <a:r>
              <a:t>  Double complement: F = ((A'B' + A'C' + B'C')')'</a:t>
            </a:r>
            <a:br/>
            <a:r>
              <a:t>  Apply DeMorgan: F = ((A'B')' * (A'C')' * (B'C')')'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Circuit uses 3 first-level NAND gates and 1 output NAND gate.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K-MAP VERIFICATION (3-Var):</a:t>
            </a:r>
            <a:br/>
            <a:r>
              <a:t>    BC=00  01  11  10</a:t>
            </a:r>
            <a:br/>
            <a:r>
              <a:t>A=0   1    1   0   1</a:t>
            </a:r>
            <a:br/>
            <a:r>
              <a:t>A=1   1    0   0   0</a:t>
            </a:r>
            <a:br/>
            <a:r>
              <a:t>Loops: (0,1)-&gt;A'B', (0,2)-&gt;A'C', (0,4)-&gt;B'C'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2-Level NAND Schematic:</a:t>
            </a:r>
            <a:br/>
            <a:r>
              <a:t>- Level 1: N1 = (A'*B')', N2 = (A'*C')', N3 = (B'*C')'</a:t>
            </a:r>
            <a:br/>
            <a:r>
              <a:t>- Level 2: F = (N1 * N2 * N3)'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Algebraic Steps &amp; Theorems: 2.0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Minimal SOP Expression: 1.0 Mark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NAND-NAND Circuit Diagram: 2.0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15 of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Q12: 4-Variable K-Map &amp; Implicant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Function: F = Σ m(0,1,2,8,9,10,11,14,15) + d(3,7)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Plot on K-map:</a:t>
            </a:r>
            <a:br/>
            <a:r>
              <a:t>  - Row 00 (00): 0(1), 1(1), 3(d), 2(1) -&gt; OCTET with Row 10 (10)!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Row 10 (10): 8(1), 9(1), 11(1), 10(1).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Octet m(0,1,2,3,8,9,10,11) covers 8 cells! Result = X' (since W,Y,Z cancel!).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Remaining minterms: m(14,15) and d(7).</a:t>
            </a:r>
            <a:br/>
            <a:r>
              <a:t>  - Quad m(11,15,7,3) or Quad m(10,11,14,15) = WX (since W=1,X=1).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Essential Prime Implicants:</a:t>
            </a:r>
            <a:br/>
            <a:r>
              <a:t>  1. EPI 1: X' (covers m0,1,2,8,9,10)</a:t>
            </a:r>
            <a:br/>
            <a:r>
              <a:t>  2. EPI 2: WX (covers m14,15)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Minimal SOP: F = X' + WX = X' + W (using Absorption X' + WX = X' + W!).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4x4 K-MAP GRID:</a:t>
            </a:r>
            <a:br/>
            <a:r>
              <a:t>      YZ=00 01 11 10</a:t>
            </a:r>
            <a:br/>
            <a:r>
              <a:t>WX=00   1   1  d   1  (Octet X')</a:t>
            </a:r>
            <a:br/>
            <a:r>
              <a:t>WX=01   0   0  d   0</a:t>
            </a:r>
            <a:br/>
            <a:r>
              <a:t>WX=11   0   0  1   1  (Quad WX)</a:t>
            </a:r>
            <a:br/>
            <a:r>
              <a:t>WX=10   1   1  1   1  (Octet X')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Simplified Expression: F = X' + W</a:t>
            </a:r>
            <a:br/>
            <a:r>
              <a:t>(Notice X' + WX simplifies directly to X' + W using Boolean Law A' + AB = A' + B!).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Correct K-Map Grid &amp; Indexing: 1.0 Mark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Identification of EPIs: 2.0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Minimal SOP Expression (X' + W): 2.0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16 of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Q13: 6-Variable K-Map Minimization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Function: F = Σ m(0,4,16,20,32,36,48,52) + d(1,5,17,21)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Convert minterms to 6-bit binary (AB CDEF):</a:t>
            </a:r>
            <a:br/>
            <a:r>
              <a:t>  m(0)=000000, m(4)=000100, m(16)=010000, m(20)=010100</a:t>
            </a:r>
            <a:br/>
            <a:r>
              <a:t>  m(32)=100000, m(36)=100100, m(48)=110000, m(52)=110100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Notice AB takes all 4 combinations (00, 01, 10, 11)!</a:t>
            </a:r>
            <a:br/>
            <a:r>
              <a:t>Thus AB cancels completely across sub-maps!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In every sub-map, minterms are CDEF = 0000 (m0) and 0100 (m4) with don't cares 0001 (m1) and 0101 (m5).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Within any 4-var sub-map, cells (0,1,4,5) form a Quad = C'E'.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Since this Quad exists identically in ALL 4 sub-maps (AB=00,01,10,11), A and B cancel out entirely!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Final Reduced Function: F = C'E'!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SUB-MAP ANALYSIS:</a:t>
            </a:r>
            <a:br/>
            <a:r>
              <a:t>All 4 sub-maps contain Quad (0,1,4,5).</a:t>
            </a:r>
            <a:br/>
            <a:r>
              <a:t>Quad in CDEF: C=0, D=X, E=0, F=X -&gt; C'E'</a:t>
            </a:r>
            <a:br/>
            <a:r>
              <a:t>4D Hyper-cube spanning all 4 sub-maps!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Schematic: Single 2-input NOR gate with inputs C and E! F = (C + E)' = C'E'.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Sub-map plotting: 2.0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Cross-map 3D/4D reduction proof: 1.5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Minimal SOP (C'E'): 1.5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17 of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Q14: 4:1 MUX Logic Realization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Function: F(A,B,C,D) = Σ m(0, 1, 3, 4, 8, 9, 15)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Connect S1 = A, S0 = B. Create MUX Input Table:</a:t>
            </a:r>
            <a:br/>
            <a:r>
              <a:t>  • AB = 00 (m0..3): m0=1, m1=1, m2=0, m3=1</a:t>
            </a:r>
            <a:br/>
            <a:r>
              <a:t>    In terms of C,D: I0 = C'D' + C'D + CD = C' + CD = C' + D</a:t>
            </a:r>
            <a:br/>
            <a:r>
              <a:t>  • AB = 01 (m4..7): m4=1, m5=0, m6=0, m7=0</a:t>
            </a:r>
            <a:br/>
            <a:r>
              <a:t>    In terms of C,D: I1 = C'D'</a:t>
            </a:r>
            <a:br/>
            <a:r>
              <a:t>  • AB = 10 (m8..11): m8=1, m9=1, m10=0, m11=0</a:t>
            </a:r>
            <a:br/>
            <a:r>
              <a:t>    In terms of C,D: I2 = C'D' + C'D = C'</a:t>
            </a:r>
            <a:br/>
            <a:r>
              <a:t>  • AB = 11 (m12..15): m12=0, m13=0, m14=0, m15=1</a:t>
            </a:r>
            <a:br/>
            <a:r>
              <a:t>    In terms of C,D: I3 = CD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MUX Input Summary:</a:t>
            </a:r>
            <a:br/>
            <a:r>
              <a:t>  I0 = C' + D,  I1 = C'D',  I2 = C',  I3 = CD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INPUT EXPRESSIONS:</a:t>
            </a:r>
            <a:br/>
            <a:r>
              <a:t>- I0: OR gate (C' + D)</a:t>
            </a:r>
            <a:br/>
            <a:r>
              <a:t>- I1: NOR gate (C + D)'</a:t>
            </a:r>
            <a:br/>
            <a:r>
              <a:t>- I2: Inverter C'</a:t>
            </a:r>
            <a:br/>
            <a:r>
              <a:t>- I3: AND gate (C * 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Schematic Setup:</a:t>
            </a:r>
            <a:br/>
            <a:r>
              <a:t>4:1 MUX with S1=A, S0=B, inputs I0..I3 driven by gate logic above.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MUX Implementation Table: 2.0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Input Expressions (I0..I3): 1.5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Circuit Diagram: 1.5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18 of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Q15: Static Hazard Detection &amp; Timing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Function: F = AB + A'C. Given B=1, C=1 -&gt; F = A + A'.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In ideal logic, A + A' = 1 constantly.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Real Gate Delay:</a:t>
            </a:r>
            <a:br/>
            <a:r>
              <a:t>  When A transitions 1 -&gt; 0, line A becomes 0 immediately.</a:t>
            </a:r>
            <a:br/>
            <a:r>
              <a:t>  However, inverter output A' takes t_pd to become 1!</a:t>
            </a:r>
            <a:br/>
            <a:r>
              <a:t>  During interval Δt = t_pd, both A = 0 and A' = 0!</a:t>
            </a:r>
            <a:br/>
            <a:r>
              <a:t>  Thus AB = 0 and A'C = 0, causing F to temporarily drop to 0! (Static 1-Hazard glitch).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Hazard Elimination via Consensus Theorem:</a:t>
            </a:r>
            <a:br/>
            <a:r>
              <a:t>  Consensus term between AB and A'C is BC.</a:t>
            </a:r>
            <a:br/>
            <a:r>
              <a:t>  Modified Hazard-Free Function: F_hf = AB + A'C + BC.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When B=1 and C=1, BC = 1 constantly, holding output F = 1 during the A transition!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TIMING DIAGRAM:</a:t>
            </a:r>
            <a:br/>
            <a:r>
              <a:t>A:   1 -----\__0_____</a:t>
            </a:r>
            <a:br/>
            <a:r>
              <a:t>A':  0 _____/--1  (delayed by t_pd)</a:t>
            </a:r>
            <a:br/>
            <a:r>
              <a:t>F:   1 ---_/\_1     (glitch to 0 for t_pd!)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Hazard-Free Circuit:</a:t>
            </a:r>
            <a:br/>
            <a:r>
              <a:t>Add a 2-input AND gate for term BC feeding the output OR gate.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Timing diagram showing glitch: 2.0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Consensus Theorem application: 1.5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Hazard-free circuit diagram: 1.5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19 of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Q16: Full Subtractor using NOR-NOR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Truth Table Equations:</a:t>
            </a:r>
            <a:br/>
            <a:r>
              <a:t>  - Diff = A ⊕ B ⊕ B_in = Σ m(1, 2, 4, 7)</a:t>
            </a:r>
            <a:br/>
            <a:r>
              <a:t>  - B_out = A'B + A'B_in + BB_in = Σ m(1, 2, 3, 7)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Expressing B_out in POS Form:</a:t>
            </a:r>
            <a:br/>
            <a:r>
              <a:t>  B_out' = A + B'B_in' ...</a:t>
            </a:r>
            <a:br/>
            <a:r>
              <a:t>  B_out = (A + B')(A + B_in')(B + B_in') in POS form.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NOR-NOR Logic Transformation:</a:t>
            </a:r>
            <a:br/>
            <a:r>
              <a:t>  A 2-level NOR-NOR circuit directly implements POS functions!</a:t>
            </a:r>
            <a:br/>
            <a:r>
              <a:t>  Level 1 NOR gates: (A + B')', (A + B_in')', (B + B_in')'</a:t>
            </a:r>
            <a:br/>
            <a:r>
              <a:t>  Level 2 NOR gate combines Level 1 outputs to produce B_out.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Difference (Diff) NOR Implementation:</a:t>
            </a:r>
            <a:br/>
            <a:r>
              <a:t>  Diff requires 4 NOR gates in a standard 2-bit XOR cascade.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FULL SUBTRACTOR TRUTH TABLE:</a:t>
            </a:r>
            <a:br/>
            <a:r>
              <a:t>A B Bin | Diff Bout</a:t>
            </a:r>
            <a:br/>
            <a:r>
              <a:t>0 0  0  |  0    0</a:t>
            </a:r>
            <a:br/>
            <a:r>
              <a:t>0 0  1  |  1    1</a:t>
            </a:r>
            <a:br/>
            <a:r>
              <a:t>0 1  0  |  1    1</a:t>
            </a:r>
            <a:br/>
            <a:r>
              <a:t>0 1  1  |  0    1</a:t>
            </a:r>
            <a:br/>
            <a:r>
              <a:t>1 0  0  |  1    0</a:t>
            </a:r>
            <a:br/>
            <a:r>
              <a:t>1 0  1  |  0    0</a:t>
            </a:r>
            <a:br/>
            <a:r>
              <a:t>1 1  0  |  0    0</a:t>
            </a:r>
            <a:br/>
            <a:r>
              <a:t>1 1  1  |  1   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NOR Schematic:</a:t>
            </a:r>
            <a:br/>
            <a:r>
              <a:t>B_out = NOR( NOR(A, B'), NOR(A, B_in), NOR(B, B_in) )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Truth Table accuracy: 1.0 Mark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POS / K-Map Minimization: 2.0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NOR-NOR Gate Diagram: 2.0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20 of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Q17: Priority Encoder &amp; Valid Bit Circuitry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Inputs: D3 (highest priority), D2, D1, D0 (lowest).</a:t>
            </a:r>
            <a:br/>
            <a:r>
              <a:t>Outputs: Y1, Y0, Valid (V).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Truth Table:</a:t>
            </a:r>
            <a:br/>
            <a:r>
              <a:t>  D3 D2 D1 D0 | Y1 Y0 V</a:t>
            </a:r>
            <a:br/>
            <a:r>
              <a:t>  0  0  0  0  |  X  X  0</a:t>
            </a:r>
            <a:br/>
            <a:r>
              <a:t>  0  0  0  1  |  0  0  1</a:t>
            </a:r>
            <a:br/>
            <a:r>
              <a:t>  0  0  1  X  |  0  1  1</a:t>
            </a:r>
            <a:br/>
            <a:r>
              <a:t>  0  1  X  X  |  1  0  1</a:t>
            </a:r>
            <a:br/>
            <a:r>
              <a:t>  1  X  X  X  |  1  1  1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K-Map Derivations:</a:t>
            </a:r>
            <a:br/>
            <a:r>
              <a:t>  • Y1 = D3 + D2</a:t>
            </a:r>
            <a:br/>
            <a:r>
              <a:t>  • Y0 = D3 + D2'D1</a:t>
            </a:r>
            <a:br/>
            <a:r>
              <a:t>  • V  = D3 + D2 + D1 + D0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Circuit Realization:</a:t>
            </a:r>
            <a:br/>
            <a:r>
              <a:t>  - Y1 requires 1 OR gate (D3 + D2)</a:t>
            </a:r>
            <a:br/>
            <a:r>
              <a:t>  - Y0 requires 1 inverter (D2'), 1 AND gate (D2'D1), 1 OR gate</a:t>
            </a:r>
            <a:br/>
            <a:r>
              <a:t>  - V requires 1 4-input OR gate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PRIORITY TRUTH TABLE:</a:t>
            </a:r>
            <a:br/>
            <a:r>
              <a:t>High priority input D3 overrides all lower bits D2..D0.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Gate Summary:</a:t>
            </a:r>
            <a:br/>
            <a:r>
              <a:t>2 OR gates, 1 AND gate, 1 INVERTER for Y1, Y0, V.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Truth table with don't cares: 1.5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K-Map Minimization equations: 1.5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Schematic diagram: 2.0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21 of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B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Q18: Parity Generator / Checker Timing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[SOL] STEP-BY-STEP DERIVATION &amp; PROOF: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Odd Parity Generator:</a:t>
            </a:r>
            <a:br/>
            <a:r>
              <a:t>  P_odd = (P3 ⊕ P2 ⊕ P1 ⊕ P0)' = P3 ⊕ P2 ⊕ P1 ⊕ P0 ⊕ 1.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Tree Structure Architecture:</a:t>
            </a:r>
            <a:br/>
            <a:r>
              <a:t>  - Level 1: X1 = P3 ⊕ P2,  X2 = P1 ⊕ P0  (1st stage, depth 1)</a:t>
            </a:r>
            <a:br/>
            <a:r>
              <a:t>  - Level 2: X3 = X1 ⊕ X2 = P3 ⊕ P2 ⊕ P1 ⊕ P0  (2nd stage, depth 2)</a:t>
            </a:r>
            <a:br/>
            <a:r>
              <a:t>  - Level 3 (Parity bit): P_odd = X3' (using XNOR or XOR with 1)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Odd Parity Checker:</a:t>
            </a:r>
            <a:br/>
            <a:r>
              <a:t>  - Error E = P3 ⊕ P2 ⊕ P1 ⊕ P0 ⊕ P_odd ⊕ 1</a:t>
            </a:r>
            <a:br/>
            <a:r>
              <a:t>  - Adds 1 additional XOR stage (depth 3).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Timing / Delay Calculation:</a:t>
            </a:r>
            <a:br/>
            <a:r>
              <a:t>  - Total Tree Depth = 3 XOR stages</a:t>
            </a:r>
            <a:br/>
            <a:r>
              <a:t>  - Propagation Delay = 3 * t_pd = 3 * 3.5 ns = 10.5 ns!</a:t>
            </a:r>
          </a:p>
          <a:p>
            <a:br/>
            <a:pPr>
              <a:defRPr sz="900">
                <a:solidFill>
                  <a:srgbClr val="FFB700"/>
                </a:solidFill>
                <a:latin typeface="Verdana"/>
              </a:defRPr>
            </a:pPr>
            <a:r>
              <a:t>PARITY TREE SCHEMATIC:</a:t>
            </a:r>
            <a:br/>
            <a:r>
              <a:t>Level 1: (P3,P2)-&gt;XOR1, (P1,P0)-&gt;XOR2</a:t>
            </a:r>
            <a:br/>
            <a:r>
              <a:t>Level 2: (XOR1,XOR2)-&gt;XOR3</a:t>
            </a:r>
            <a:br/>
            <a:r>
              <a:t>Level 3: (XOR3,P_odd)-&gt;Error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[CIRCUIT] SCHEMATIC &amp; RUBRIC:</a:t>
            </a:r>
          </a:p>
          <a:p>
            <a:br/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Circuit Implementation:</a:t>
            </a:r>
            <a:br/>
            <a:r>
              <a:t>Total Delay Calculation:</a:t>
            </a:r>
            <a:br/>
            <a:r>
              <a:t>Critical path = 3 gate delays = 10.5 ns.</a:t>
            </a:r>
          </a:p>
          <a:p>
            <a:br/>
            <a:pPr>
              <a:defRPr sz="1100" b="1">
                <a:solidFill>
                  <a:srgbClr val="22C55E"/>
                </a:solidFill>
                <a:latin typeface="Verdana"/>
              </a:defRPr>
            </a:pPr>
            <a:r>
              <a:t>[RUBRIC] Marking Breakdown: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Logic Equations: 1.5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Tree Circuit Diagram: 2.0 Marks</a:t>
            </a:r>
          </a:p>
          <a:p>
            <a:pPr>
              <a:defRPr sz="900">
                <a:solidFill>
                  <a:srgbClr val="F8FAFC"/>
                </a:solidFill>
                <a:latin typeface="Verdana"/>
              </a:defRPr>
            </a:pPr>
            <a:r>
              <a:t>• Delay Calculation (10.5 ns): 1.5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22 of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C — PUZZLE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Section C: Puzzle Solutions &amp; Analytical Proofs (Q19 – Q20)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B700"/>
                </a:solidFill>
                <a:latin typeface="Georgia"/>
              </a:defRPr>
            </a:pPr>
            <a:r>
              <a:t>SECTION C EVALUATION &amp; HIGH-WEIGHTAGE RUBRICS</a:t>
            </a:r>
          </a:p>
          <a:p>
            <a:br/>
            <a:pPr algn="ctr">
              <a:defRPr sz="1400" b="1">
                <a:solidFill>
                  <a:srgbClr val="00F0FF"/>
                </a:solidFill>
                <a:latin typeface="Verdana"/>
              </a:defRPr>
            </a:pPr>
            <a:r>
              <a:t>• Maximum Marks per Puzzle: 10 Marks  |  Total Section Marks: 20 Marks</a:t>
            </a:r>
          </a:p>
          <a:p>
            <a:br/>
            <a:pPr algn="ctr">
              <a:defRPr sz="1200">
                <a:solidFill>
                  <a:srgbClr val="F8FAFC"/>
                </a:solidFill>
                <a:latin typeface="Verdana"/>
              </a:defRPr>
            </a:pPr>
            <a:r>
              <a:t>• Evaluators must strictly verify rigorous mathematical proofs and diagnostic matrices:</a:t>
            </a:r>
            <a:br/>
            <a:r>
              <a:t>  - Q19: Complete Fault Diagnostic Matrix &amp; Test Vector Minimization Proof</a:t>
            </a:r>
            <a:br/>
            <a:r>
              <a:t>  - Q20: Excess-3 Self-Complementing Proof &amp; Gate Reduction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23 of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C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Q19: The Faulty Black-Box Diagnostic Puzzle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[PROOF] RIGOROUS DERIVATION: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Majority Logic Function: F = AB + BC + CA.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Nodes: N1 = AB, N2 = BC, N3 = CA, N4 = OR output (F).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Fault Analysis for Stuck-At-0 (s-a-0):</a:t>
            </a:r>
            <a:br/>
            <a:r>
              <a:t>  - Node N1 s-a-0: Output becomes F_f1 = 0 + BC + CA = C(A + B).</a:t>
            </a:r>
            <a:br/>
            <a:r>
              <a:t>    Fails when AB=1 (vectors 110: expected 1, actual 0!).</a:t>
            </a:r>
            <a:br/>
            <a:r>
              <a:t>  - Node N2 s-a-0: Output becomes F_f2 = AB + 0 + CA = A(B + C).</a:t>
            </a:r>
            <a:br/>
            <a:r>
              <a:t>    Fails when BC=1 (vectors 011: expected 1, actual 0!).</a:t>
            </a:r>
            <a:br/>
            <a:r>
              <a:t>  - Node N3 s-a-0: Output becomes F_f3 = AB + BC + 0 = B(A + C).</a:t>
            </a:r>
            <a:br/>
            <a:r>
              <a:t>    Fails when CA=1 (vectors 101: expected 1, actual 0!).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Minimal Test Vector Set:</a:t>
            </a:r>
            <a:br/>
            <a:r>
              <a:t>  Vectors {110, 011, 101} uniquely isolate each fault!</a:t>
            </a:r>
            <a:br/>
            <a:r>
              <a:t>  - Vector 110 tests N1 s-a-0</a:t>
            </a:r>
            <a:br/>
            <a:r>
              <a:t>  - Vector 011 tests N2 s-a-0</a:t>
            </a:r>
            <a:br/>
            <a:r>
              <a:t>  - Vector 101 tests N3 s-a-0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Proof for ABC = 111 insufficiency:</a:t>
            </a:r>
            <a:br/>
            <a:r>
              <a:t>  At 111, if N1 is s-a-0, BC + CA = 1 + 1 = 1! Output is still 1! Thus 111 CANNOT detect any single AND-node s-a-0 fault!</a:t>
            </a:r>
          </a:p>
          <a:p>
            <a:br/>
            <a:pPr>
              <a:defRPr sz="900">
                <a:solidFill>
                  <a:srgbClr val="00F0FF"/>
                </a:solidFill>
                <a:latin typeface="Verdana"/>
              </a:defRPr>
            </a:pPr>
            <a:r>
              <a:t>FAULT DIAGNOSTIC MATRIX:</a:t>
            </a:r>
            <a:br/>
            <a:r>
              <a:t>Vector | Expected | N1 s-a-0 | N2 s-a-0 | N3 s-a-0</a:t>
            </a:r>
            <a:br/>
            <a:r>
              <a:t>110    |    1     |    0*    |    1     |    1</a:t>
            </a:r>
            <a:br/>
            <a:r>
              <a:t>011    |    1     |    1     |    0*    |    1</a:t>
            </a:r>
            <a:br/>
            <a:r>
              <a:t>101    |    1     |    1     |    1     |    0*</a:t>
            </a:r>
            <a:br/>
            <a:r>
              <a:t>111    |    1     |    1     |    1     |   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[RUBRIC] SCORING BREAKDOWN (10 MARKS):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Complete Fault Table: 4.0 Marks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Minimal Test Vector Set ({110,011,101}): 3.0 Marks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Proof of 111 Insufficiency: 3.0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24 of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SECTION C — DETAILED WORKED SOLUTIONS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Solution Q20: The Self-Complementing Lock Puzzle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B700"/>
                </a:solidFill>
                <a:latin typeface="Georgia"/>
              </a:defRPr>
            </a:pPr>
            <a:r>
              <a:t>[PROOF] RIGOROUS DERIVATION: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Excess-3 BCD Definition:</a:t>
            </a:r>
            <a:br/>
            <a:r>
              <a:t>  Representation of decimal digit D = Binary value of (D + 3).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Mathematical Proof of Self-Complementing Property:</a:t>
            </a:r>
            <a:br/>
            <a:r>
              <a:t>  - 9's complement of decimal digit D is (9 - D).</a:t>
            </a:r>
            <a:br/>
            <a:r>
              <a:t>  - In Excess-3 BCD, code for (9 - D) is Binary value of ((9 - D) + 3) = (12 - D).</a:t>
            </a:r>
            <a:br/>
            <a:r>
              <a:t>  - Compare with code for D: (D + 3).</a:t>
            </a:r>
            <a:br/>
            <a:r>
              <a:t>  - Sum of code for D and code for (9 - D) = (D + 3) + (12 - D) = 15 = 1111_2!</a:t>
            </a:r>
            <a:br/>
            <a:r>
              <a:t>  - Since their sum is 1111_2 (all 1s), the Excess-3 code for (9 - D) is the EXACT BITWISE NOT of the Excess-3 code for D!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Structural Gate Reduction:</a:t>
            </a:r>
            <a:br/>
            <a:r>
              <a:t>  - Naive K-map design requires 4 complex SOP expressions: 14 gates.</a:t>
            </a:r>
            <a:br/>
            <a:r>
              <a:t>  - Self-Complementing design requires ONLY 4 INVERTER gates!</a:t>
            </a:r>
            <a:br/>
            <a:r>
              <a:t>  Y3 = X3',  Y2 = X2',  Y1 = X1',  Y0 = X0'.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Gate Reduction Calculation:</a:t>
            </a:r>
            <a:br/>
            <a:r>
              <a:t>  Reduction = (14 - 4) / 14 = 10 / 14 = 71.4% gate reduction!</a:t>
            </a:r>
          </a:p>
          <a:p>
            <a:br/>
            <a:pPr>
              <a:defRPr sz="900">
                <a:solidFill>
                  <a:srgbClr val="00F0FF"/>
                </a:solidFill>
                <a:latin typeface="Verdana"/>
              </a:defRPr>
            </a:pPr>
            <a:r>
              <a:t>SELF-COMPLEMENTING PROOF:</a:t>
            </a:r>
            <a:br/>
            <a:r>
              <a:t>Digit D=2 -&gt; Excess-3 = 0101_2 (5)</a:t>
            </a:r>
            <a:br/>
            <a:r>
              <a:t>9's Complement (9-2=7) -&gt; Excess-3 = 1010_2 (10)</a:t>
            </a:r>
            <a:br/>
            <a:r>
              <a:t>Note 0101_2 XOR 1111_2 = 1010_2! (Bitwise NOT!)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188720"/>
            <a:ext cx="423641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D0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  <a:latin typeface="Georgia"/>
              </a:defRPr>
            </a:pPr>
            <a:r>
              <a:t>[RUBRIC] SCORING BREAKDOWN (10 MARKS):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Mathematical Proof: 3.0 Marks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Minimal Logic Equations (Y_i = X_i'): 4.0 Marks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• Gate Count Reduction Calculation: 3.0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25 of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solidFill>
            <a:srgbClr val="131C3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>
            <a:normAutofit/>
          </a:bodyPr>
          <a:lstStyle/>
          <a:p>
            <a:pPr algn="ctr">
              <a:defRPr sz="1000" b="1">
                <a:solidFill>
                  <a:srgbClr val="D026FF"/>
                </a:solidFill>
                <a:latin typeface="Verdana"/>
              </a:defRPr>
            </a:pPr>
            <a:r>
              <a:t>MASTER SOLUTION KEY</a:t>
            </a:r>
          </a:p>
          <a:p>
            <a:pPr>
              <a:defRPr sz="2000" b="1">
                <a:solidFill>
                  <a:srgbClr val="00F0FF"/>
                </a:solidFill>
                <a:latin typeface="Georgia"/>
              </a:defRPr>
            </a:pPr>
            <a:r>
              <a:t>Tie-Breaker Worked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  <a:latin typeface="Georgia"/>
              </a:defRPr>
            </a:pPr>
            <a:r>
              <a:t>[TIE-BREAKER] SOLUTIONS &amp; VERIFICATION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TB Q1 (Static 0-Hazard Elimination):  Consensus POS Term: (B + C).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  Derivation: Proof: When A transitions 0-&gt;1 with B=0, C=0, both maxterms temporarily equal 1 in POS logic. Adding maxterm (B + C) holds output at 0.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TB Q2 (64:1 MUX Tree Capacity):  Total MUXes Required: 63 MUXes.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  Derivation: Formula: For an N:1 MUX using k:1 MUXes, total MUXes = (N - 1) / (k - 1) = (64 - 1) / (2 - 1) = 63.</a:t>
            </a:r>
          </a:p>
          <a:p>
            <a:br/>
            <a:pPr>
              <a:defRPr sz="1200" b="1">
                <a:solidFill>
                  <a:srgbClr val="FFB700"/>
                </a:solidFill>
                <a:latin typeface="Verdana"/>
              </a:defRPr>
            </a:pPr>
            <a:r>
              <a:t>• TB Q3 (Minimum NOR Gates for XNOR):  Minimum NOR Gates: 4 NOR gates.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  Derivation: Schema: N1=(A+B)', N2=(A+N1)', N3=(B+N1)', N4=(N2+N3)' = A ⊙ B.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26 of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C55E"/>
                </a:solidFill>
                <a:latin typeface="Georgia"/>
              </a:defRPr>
            </a:pPr>
            <a:r>
              <a:t>EVALUATION CONCLUDED</a:t>
            </a:r>
          </a:p>
          <a:p>
            <a:pPr algn="ctr">
              <a:defRPr sz="1800" b="1">
                <a:solidFill>
                  <a:srgbClr val="FFB700"/>
                </a:solidFill>
                <a:latin typeface="Verdana"/>
              </a:defRPr>
            </a:pPr>
            <a:r>
              <a:t>SAMYAK 2026 — LOGIC MATRIX EVALUATION COMPLETE</a:t>
            </a:r>
          </a:p>
          <a:p>
            <a:br/>
            <a:pPr algn="ctr">
              <a:defRPr sz="1300">
                <a:solidFill>
                  <a:srgbClr val="F8FAFC"/>
                </a:solidFill>
                <a:latin typeface="Verdana"/>
              </a:defRPr>
            </a:pPr>
            <a:r>
              <a:t>1. Total scores must be entered into the SAMYAK portal.</a:t>
            </a:r>
            <a:br/>
            <a:r>
              <a:t>2. In case of overall ties for top 3 positions, refer to Slide 26 Tie-Breaker results.</a:t>
            </a:r>
            <a:br/>
            <a:r>
              <a:t>3. Verified score sheets must be submitted to the Convenor, Dept of ECE, KL University.</a:t>
            </a:r>
            <a:br/>
            <a:r>
              <a:t>4. Congratulations to all participating student teams!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19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Verdana"/>
              </a:defRPr>
            </a:pPr>
            <a:r>
              <a:t>SAMYAK 2026: LOGIC MATRIX  |  Department of ECE, KL University  |  Venue: R406A  |  Slide 27 of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